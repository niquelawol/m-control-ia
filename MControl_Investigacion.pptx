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25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371600"/>
            <a:ext cx="4572000" cy="4572000"/>
          </a:xfrm>
          <a:prstGeom prst="ellipse">
            <a:avLst/>
          </a:prstGeom>
          <a:solidFill>
            <a:srgbClr val="028090">
              <a:alpha val="3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097280" y="4754880"/>
            <a:ext cx="3657600" cy="3657600"/>
          </a:xfrm>
          <a:prstGeom prst="ellipse">
            <a:avLst/>
          </a:prstGeom>
          <a:solidFill>
            <a:srgbClr val="02C39A">
              <a:alpha val="2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965960"/>
            <a:ext cx="106984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5800" b="1" spc="200" kern="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M-CONTROL</a:t>
            </a:r>
            <a:endParaRPr lang="en-US" sz="5800" dirty="0"/>
          </a:p>
        </p:txBody>
      </p:sp>
      <p:sp>
        <p:nvSpPr>
          <p:cNvPr id="5" name="Text 3"/>
          <p:cNvSpPr/>
          <p:nvPr/>
        </p:nvSpPr>
        <p:spPr>
          <a:xfrm>
            <a:off x="777240" y="288036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300" dirty="0">
                <a:solidFill>
                  <a:srgbClr val="8FE3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Investigación científica y documentación conceptual</a:t>
            </a:r>
            <a:endParaRPr lang="en-US" sz="2300" dirty="0"/>
          </a:p>
        </p:txBody>
      </p:sp>
      <p:sp>
        <p:nvSpPr>
          <p:cNvPr id="6" name="Text 4"/>
          <p:cNvSpPr/>
          <p:nvPr/>
        </p:nvSpPr>
        <p:spPr>
          <a:xfrm>
            <a:off x="777240" y="3337560"/>
            <a:ext cx="9601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i="1" dirty="0">
                <a:solidFill>
                  <a:srgbClr val="F7F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Aplicación de autorregulación y seguimiento de hábitos, basada en evidencia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777240" y="4160520"/>
            <a:ext cx="6035040" cy="1874520"/>
          </a:xfrm>
          <a:prstGeom prst="roundRect">
            <a:avLst>
              <a:gd name="adj" fmla="val 5854"/>
            </a:avLst>
          </a:prstGeom>
          <a:solidFill>
            <a:srgbClr val="FFFFFF">
              <a:alpha val="8000"/>
            </a:srgbClr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51560" y="4315968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EQUIPO DE TRABAJO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1097280" y="4736592"/>
            <a:ext cx="109728" cy="109728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0" name="Text 8"/>
          <p:cNvSpPr/>
          <p:nvPr/>
        </p:nvSpPr>
        <p:spPr>
          <a:xfrm>
            <a:off x="1325880" y="4645152"/>
            <a:ext cx="5303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Andrés Felipe Mejía Suaza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1097280" y="5120640"/>
            <a:ext cx="109728" cy="109728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2" name="Text 10"/>
          <p:cNvSpPr/>
          <p:nvPr/>
        </p:nvSpPr>
        <p:spPr>
          <a:xfrm>
            <a:off x="1325880" y="5029200"/>
            <a:ext cx="5303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Linares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1097280" y="5504688"/>
            <a:ext cx="109728" cy="109728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4" name="Text 12"/>
          <p:cNvSpPr/>
          <p:nvPr/>
        </p:nvSpPr>
        <p:spPr>
          <a:xfrm>
            <a:off x="1325880" y="5413248"/>
            <a:ext cx="5303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Miguel Ángel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777240" y="62636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9FB4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Versión documental inicial — 7 de septiembre de 2026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A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Resumen ejecutivo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548640" y="1234440"/>
            <a:ext cx="6675120" cy="4846320"/>
          </a:xfrm>
          <a:prstGeom prst="roundRect">
            <a:avLst>
              <a:gd name="adj" fmla="val 1887"/>
            </a:avLst>
          </a:prstGeom>
          <a:solidFill>
            <a:srgbClr val="FFFFFF"/>
          </a:solidFill>
          <a:ln w="12700">
            <a:solidFill>
              <a:srgbClr val="8FE3CF"/>
            </a:solidFill>
            <a:prstDash val="solid"/>
          </a:ln>
          <a:effectLst>
            <a:outerShdw sx="100000" sy="100000" kx="0" ky="0" algn="bl" rotWithShape="0" blurRad="76200" dist="25400" dir="5400000">
              <a:srgbClr val="1B1B1B">
                <a:alpha val="12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868680" y="1508760"/>
            <a:ext cx="603504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7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M-Control </a:t>
            </a:r>
            <a:pPr algn="l" indent="0" marL="0">
              <a:lnSpc>
                <a:spcPct val="115000"/>
              </a:lnSpc>
              <a:buNone/>
            </a:pPr>
            <a:r>
              <a:rPr lang="en-US" sz="170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 una aplicación para móvil y computador que ayuda a hombres adultos a observar y regular su patrón de masturbación, sin promover la abstinencia total.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868680" y="3063240"/>
            <a:ext cx="603504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7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Distinción clave: </a:t>
            </a:r>
            <a:pPr algn="l" indent="0" marL="0">
              <a:lnSpc>
                <a:spcPct val="115000"/>
              </a:lnSpc>
              <a:buNone/>
            </a:pPr>
            <a:r>
              <a:rPr lang="en-US" sz="170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 una conducta sexual común y generalmente saludable; el problema aparece solo cuando se vuelve difícil de controlar, causa daño físico o interfiere con la vida de la persona.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868680" y="4526280"/>
            <a:ext cx="603504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7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Oportunidad principal: </a:t>
            </a:r>
            <a:pPr algn="l" indent="0" marL="0">
              <a:lnSpc>
                <a:spcPct val="115000"/>
              </a:lnSpc>
              <a:buNone/>
            </a:pPr>
            <a:r>
              <a:rPr lang="en-US" sz="170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construir un sistema de seguimiento que aprenda del patrón individual del usuario y priorice indicadores de bienestar sobre un simple conteo de días.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7498080" y="1234440"/>
            <a:ext cx="4114800" cy="1508760"/>
          </a:xfrm>
          <a:prstGeom prst="roundRect">
            <a:avLst>
              <a:gd name="adj" fmla="val 6061"/>
            </a:avLst>
          </a:prstGeom>
          <a:solidFill>
            <a:srgbClr val="028090"/>
          </a:solidFill>
          <a:ln/>
        </p:spPr>
      </p:sp>
      <p:sp>
        <p:nvSpPr>
          <p:cNvPr id="8" name="Text 6"/>
          <p:cNvSpPr/>
          <p:nvPr/>
        </p:nvSpPr>
        <p:spPr>
          <a:xfrm>
            <a:off x="7498080" y="1371600"/>
            <a:ext cx="4114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SIN</a:t>
            </a:r>
            <a:endParaRPr lang="en-US" sz="3400" dirty="0"/>
          </a:p>
        </p:txBody>
      </p:sp>
      <p:sp>
        <p:nvSpPr>
          <p:cNvPr id="9" name="Text 7"/>
          <p:cNvSpPr/>
          <p:nvPr/>
        </p:nvSpPr>
        <p:spPr>
          <a:xfrm>
            <a:off x="7680960" y="2057400"/>
            <a:ext cx="3749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7F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frecuencia médica universal</a:t>
            </a:r>
            <a:endParaRPr lang="en-US" sz="1450" dirty="0"/>
          </a:p>
        </p:txBody>
      </p:sp>
      <p:sp>
        <p:nvSpPr>
          <p:cNvPr id="10" name="Shape 8"/>
          <p:cNvSpPr/>
          <p:nvPr/>
        </p:nvSpPr>
        <p:spPr>
          <a:xfrm>
            <a:off x="7498080" y="2926080"/>
            <a:ext cx="4114800" cy="1508760"/>
          </a:xfrm>
          <a:prstGeom prst="roundRect">
            <a:avLst>
              <a:gd name="adj" fmla="val 6061"/>
            </a:avLst>
          </a:prstGeom>
          <a:solidFill>
            <a:srgbClr val="02C39A"/>
          </a:solidFill>
          <a:ln/>
        </p:spPr>
      </p:sp>
      <p:sp>
        <p:nvSpPr>
          <p:cNvPr id="11" name="Text 9"/>
          <p:cNvSpPr/>
          <p:nvPr/>
        </p:nvSpPr>
        <p:spPr>
          <a:xfrm>
            <a:off x="7498080" y="3017520"/>
            <a:ext cx="4114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4000" dirty="0"/>
          </a:p>
        </p:txBody>
      </p:sp>
      <p:sp>
        <p:nvSpPr>
          <p:cNvPr id="12" name="Text 10"/>
          <p:cNvSpPr/>
          <p:nvPr/>
        </p:nvSpPr>
        <p:spPr>
          <a:xfrm>
            <a:off x="7680960" y="3794760"/>
            <a:ext cx="3749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colores de orientación: verde, amarillo, rojo</a:t>
            </a:r>
            <a:endParaRPr lang="en-US" sz="1450" dirty="0"/>
          </a:p>
        </p:txBody>
      </p:sp>
      <p:sp>
        <p:nvSpPr>
          <p:cNvPr id="13" name="Shape 11"/>
          <p:cNvSpPr/>
          <p:nvPr/>
        </p:nvSpPr>
        <p:spPr>
          <a:xfrm>
            <a:off x="7498080" y="4617720"/>
            <a:ext cx="4114800" cy="1463040"/>
          </a:xfrm>
          <a:prstGeom prst="roundRect">
            <a:avLst>
              <a:gd name="adj" fmla="val 6250"/>
            </a:avLst>
          </a:prstGeom>
          <a:solidFill>
            <a:srgbClr val="0B2545"/>
          </a:solidFill>
          <a:ln/>
        </p:spPr>
      </p:sp>
      <p:sp>
        <p:nvSpPr>
          <p:cNvPr id="14" name="Text 12"/>
          <p:cNvSpPr/>
          <p:nvPr/>
        </p:nvSpPr>
        <p:spPr>
          <a:xfrm>
            <a:off x="7498080" y="4754880"/>
            <a:ext cx="4114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8FE3C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OMS · ICD-11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7680960" y="5349240"/>
            <a:ext cx="3749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7F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reconoce el trastorno de conducta sexual compulsiva (CSBD)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M-Control · Investigación y documentación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25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-1371600"/>
            <a:ext cx="4114800" cy="4114800"/>
          </a:xfrm>
          <a:prstGeom prst="ellipse">
            <a:avLst/>
          </a:prstGeom>
          <a:solidFill>
            <a:srgbClr val="028090">
              <a:alpha val="25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0292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Nota científica y de seguridad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11064240" cy="1371600"/>
          </a:xfrm>
          <a:prstGeom prst="roundRect">
            <a:avLst>
              <a:gd name="adj" fmla="val 6667"/>
            </a:avLst>
          </a:prstGeom>
          <a:solidFill>
            <a:srgbClr val="FFFFFF">
              <a:alpha val="10000"/>
            </a:srgbClr>
          </a:solidFill>
          <a:ln w="15875">
            <a:solidFill>
              <a:srgbClr val="02C39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68680" y="1572768"/>
            <a:ext cx="104241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900" b="1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M-Control no debe presentarse como una herramienta que diagnostica, trata o determina médicamente cuándo una persona “debe” masturbarse.</a:t>
            </a:r>
            <a:endParaRPr lang="en-US" sz="1900" dirty="0"/>
          </a:p>
        </p:txBody>
      </p:sp>
      <p:sp>
        <p:nvSpPr>
          <p:cNvPr id="6" name="Shape 4"/>
          <p:cNvSpPr/>
          <p:nvPr/>
        </p:nvSpPr>
        <p:spPr>
          <a:xfrm>
            <a:off x="548640" y="3063240"/>
            <a:ext cx="5349240" cy="1280160"/>
          </a:xfrm>
          <a:prstGeom prst="roundRect">
            <a:avLst>
              <a:gd name="adj" fmla="val 5714"/>
            </a:avLst>
          </a:prstGeom>
          <a:solidFill>
            <a:srgbClr val="0F3355"/>
          </a:solidFill>
          <a:ln w="9525">
            <a:solidFill>
              <a:srgbClr val="02809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3172968"/>
            <a:ext cx="4892040" cy="10607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evidencia no establece </a:t>
            </a:r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F7F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frecuencia universalmente saludable de masturbación.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263640" y="3063240"/>
            <a:ext cx="5349240" cy="1280160"/>
          </a:xfrm>
          <a:prstGeom prst="roundRect">
            <a:avLst>
              <a:gd name="adj" fmla="val 5714"/>
            </a:avLst>
          </a:prstGeom>
          <a:solidFill>
            <a:srgbClr val="0F3355"/>
          </a:solidFill>
          <a:ln w="9525">
            <a:solidFill>
              <a:srgbClr val="02809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92240" y="3172968"/>
            <a:ext cx="4892040" cy="10607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frecuencia por sí sola </a:t>
            </a:r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F7F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distingue una conducta saludable de una problemática.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548640" y="4572000"/>
            <a:ext cx="5349240" cy="1280160"/>
          </a:xfrm>
          <a:prstGeom prst="roundRect">
            <a:avLst>
              <a:gd name="adj" fmla="val 5714"/>
            </a:avLst>
          </a:prstGeom>
          <a:solidFill>
            <a:srgbClr val="0F3355"/>
          </a:solidFill>
          <a:ln w="9525">
            <a:solidFill>
              <a:srgbClr val="02809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77240" y="4681728"/>
            <a:ext cx="4892040" cy="10607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criterio más sólido: </a:t>
            </a:r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F7F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daño físico, pérdida de control, malestar clínico o interferencia con la vida cotidiana.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6263640" y="4572000"/>
            <a:ext cx="5349240" cy="1280160"/>
          </a:xfrm>
          <a:prstGeom prst="roundRect">
            <a:avLst>
              <a:gd name="adj" fmla="val 5714"/>
            </a:avLst>
          </a:prstGeom>
          <a:solidFill>
            <a:srgbClr val="0F3355"/>
          </a:solidFill>
          <a:ln w="9525">
            <a:solidFill>
              <a:srgbClr val="02809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92240" y="4681728"/>
            <a:ext cx="4892040" cy="10607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Consecuencia para el proyecto: </a:t>
            </a:r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F7F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algoritmo de colores debe ser personalizado y multi-indicador, no una regla rígida ('X días = bueno').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FE3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M-Control · Investigación y documentación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FE3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A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Beneficios potenciales respaldados por la evidencia</a:t>
            </a:r>
            <a:endParaRPr lang="en-US" sz="31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i="1" dirty="0">
                <a:solidFill>
                  <a:srgbClr val="5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respuesta es individual: son beneficios posibles, no garantías</a:t>
            </a:r>
            <a:endParaRPr lang="en-US" sz="155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347472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2700">
            <a:solidFill>
              <a:srgbClr val="8FE3CF"/>
            </a:solidFill>
            <a:prstDash val="solid"/>
          </a:ln>
          <a:effectLst>
            <a:outerShdw sx="100000" sy="100000" kx="0" ky="0" algn="bl" rotWithShape="0" blurRad="63500" dist="25400" dir="5400000">
              <a:srgbClr val="1B1B1B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77240" y="1709928"/>
            <a:ext cx="411480" cy="41148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1709928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77240" y="2240280"/>
            <a:ext cx="3017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Reducción del estrés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77240" y="2651760"/>
            <a:ext cx="3017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orgasmo contribuye a la relajación y liberación de tensión.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343400" y="1508760"/>
            <a:ext cx="347472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2700">
            <a:solidFill>
              <a:srgbClr val="8FE3CF"/>
            </a:solidFill>
            <a:prstDash val="solid"/>
          </a:ln>
          <a:effectLst>
            <a:outerShdw sx="100000" sy="100000" kx="0" ky="0" algn="bl" rotWithShape="0" blurRad="63500" dist="25400" dir="5400000">
              <a:srgbClr val="1B1B1B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572000" y="1709928"/>
            <a:ext cx="411480" cy="41148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1" name="Text 9"/>
          <p:cNvSpPr/>
          <p:nvPr/>
        </p:nvSpPr>
        <p:spPr>
          <a:xfrm>
            <a:off x="4572000" y="1709928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572000" y="2240280"/>
            <a:ext cx="3017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Relajación y sueño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572000" y="2651760"/>
            <a:ext cx="3017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Algunas personas lo relacionan con dormir mejor.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8138160" y="1508760"/>
            <a:ext cx="347472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2700">
            <a:solidFill>
              <a:srgbClr val="8FE3CF"/>
            </a:solidFill>
            <a:prstDash val="solid"/>
          </a:ln>
          <a:effectLst>
            <a:outerShdw sx="100000" sy="100000" kx="0" ky="0" algn="bl" rotWithShape="0" blurRad="63500" dist="25400" dir="5400000">
              <a:srgbClr val="1B1B1B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366760" y="1709928"/>
            <a:ext cx="411480" cy="41148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6" name="Text 14"/>
          <p:cNvSpPr/>
          <p:nvPr/>
        </p:nvSpPr>
        <p:spPr>
          <a:xfrm>
            <a:off x="8366760" y="1709928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8366760" y="2240280"/>
            <a:ext cx="3017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Estado de ánimo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8366760" y="2651760"/>
            <a:ext cx="3017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Respuestas neuroquímicas asociadas al placer y bienestar.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548640" y="3794760"/>
            <a:ext cx="347472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2700">
            <a:solidFill>
              <a:srgbClr val="8FE3CF"/>
            </a:solidFill>
            <a:prstDash val="solid"/>
          </a:ln>
          <a:effectLst>
            <a:outerShdw sx="100000" sy="100000" kx="0" ky="0" algn="bl" rotWithShape="0" blurRad="63500" dist="25400" dir="5400000">
              <a:srgbClr val="1B1B1B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777240" y="3995928"/>
            <a:ext cx="411480" cy="41148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21" name="Text 19"/>
          <p:cNvSpPr/>
          <p:nvPr/>
        </p:nvSpPr>
        <p:spPr>
          <a:xfrm>
            <a:off x="777240" y="3995928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777240" y="4526280"/>
            <a:ext cx="3017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Autoconocimiento corporal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777240" y="4937760"/>
            <a:ext cx="3017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Favorece identificar preferencias y respuestas sexuales.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4343400" y="3794760"/>
            <a:ext cx="347472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2700">
            <a:solidFill>
              <a:srgbClr val="8FE3CF"/>
            </a:solidFill>
            <a:prstDash val="solid"/>
          </a:ln>
          <a:effectLst>
            <a:outerShdw sx="100000" sy="100000" kx="0" ky="0" algn="bl" rotWithShape="0" blurRad="63500" dist="25400" dir="5400000">
              <a:srgbClr val="1B1B1B">
                <a:alpha val="1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572000" y="3995928"/>
            <a:ext cx="411480" cy="41148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26" name="Text 24"/>
          <p:cNvSpPr/>
          <p:nvPr/>
        </p:nvSpPr>
        <p:spPr>
          <a:xfrm>
            <a:off x="4572000" y="3995928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4572000" y="4526280"/>
            <a:ext cx="3017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Salud sexual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4572000" y="4937760"/>
            <a:ext cx="3017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riesgo de embarazo; riesgo de ITS esencialmente nulo.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8138160" y="3794760"/>
            <a:ext cx="347472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2700">
            <a:solidFill>
              <a:srgbClr val="8FE3CF"/>
            </a:solidFill>
            <a:prstDash val="solid"/>
          </a:ln>
          <a:effectLst>
            <a:outerShdw sx="100000" sy="100000" kx="0" ky="0" algn="bl" rotWithShape="0" blurRad="63500" dist="25400" dir="5400000">
              <a:srgbClr val="1B1B1B">
                <a:alpha val="1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8366760" y="3995928"/>
            <a:ext cx="411480" cy="41148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31" name="Text 29"/>
          <p:cNvSpPr/>
          <p:nvPr/>
        </p:nvSpPr>
        <p:spPr>
          <a:xfrm>
            <a:off x="8366760" y="3995928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8366760" y="4526280"/>
            <a:ext cx="3017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Posible relación prostática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8366760" y="4937760"/>
            <a:ext cx="3017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Asociación observacional con menor riesgo de cáncer de próstata (no causalidad).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M-Control · Investigación y documentación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A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¿Cuándo puede convertirse en un problema?</a:t>
            </a:r>
            <a:endParaRPr lang="en-US" sz="31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i="1" dirty="0">
                <a:solidFill>
                  <a:srgbClr val="5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riesgo no es la frecuencia: es perder el control o sufrir consecuencias negativas</a:t>
            </a:r>
            <a:endParaRPr lang="en-US" sz="155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349240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E3AFA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13232" y="1847088"/>
            <a:ext cx="164592" cy="164592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6" name="Text 4"/>
          <p:cNvSpPr/>
          <p:nvPr/>
        </p:nvSpPr>
        <p:spPr>
          <a:xfrm>
            <a:off x="1005840" y="1600200"/>
            <a:ext cx="47091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Intentos repetidos y fallidos de reducir la conducta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6263640" y="1600200"/>
            <a:ext cx="5349240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E3AFA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428232" y="1847088"/>
            <a:ext cx="164592" cy="164592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9" name="Text 7"/>
          <p:cNvSpPr/>
          <p:nvPr/>
        </p:nvSpPr>
        <p:spPr>
          <a:xfrm>
            <a:off x="6720840" y="1600200"/>
            <a:ext cx="47091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Consume una cantidad considerable de tiempo</a:t>
            </a:r>
            <a:endParaRPr lang="en-US" sz="1450" dirty="0"/>
          </a:p>
        </p:txBody>
      </p:sp>
      <p:sp>
        <p:nvSpPr>
          <p:cNvPr id="10" name="Shape 8"/>
          <p:cNvSpPr/>
          <p:nvPr/>
        </p:nvSpPr>
        <p:spPr>
          <a:xfrm>
            <a:off x="548640" y="2459736"/>
            <a:ext cx="5349240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E3AFA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13232" y="2706624"/>
            <a:ext cx="164592" cy="164592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12" name="Text 10"/>
          <p:cNvSpPr/>
          <p:nvPr/>
        </p:nvSpPr>
        <p:spPr>
          <a:xfrm>
            <a:off x="1005840" y="2459736"/>
            <a:ext cx="47091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usa como única vía de escape de ansiedad o estrés</a:t>
            </a:r>
            <a:endParaRPr lang="en-US" sz="1450" dirty="0"/>
          </a:p>
        </p:txBody>
      </p:sp>
      <p:sp>
        <p:nvSpPr>
          <p:cNvPr id="13" name="Shape 11"/>
          <p:cNvSpPr/>
          <p:nvPr/>
        </p:nvSpPr>
        <p:spPr>
          <a:xfrm>
            <a:off x="6263640" y="2459736"/>
            <a:ext cx="5349240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E3AFAF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428232" y="2706624"/>
            <a:ext cx="164592" cy="164592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15" name="Text 13"/>
          <p:cNvSpPr/>
          <p:nvPr/>
        </p:nvSpPr>
        <p:spPr>
          <a:xfrm>
            <a:off x="6720840" y="2459736"/>
            <a:ext cx="47091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Interfiere con trabajo, estudio, sueño o relaciones</a:t>
            </a:r>
            <a:endParaRPr lang="en-US" sz="1450" dirty="0"/>
          </a:p>
        </p:txBody>
      </p:sp>
      <p:sp>
        <p:nvSpPr>
          <p:cNvPr id="16" name="Shape 14"/>
          <p:cNvSpPr/>
          <p:nvPr/>
        </p:nvSpPr>
        <p:spPr>
          <a:xfrm>
            <a:off x="548640" y="3319272"/>
            <a:ext cx="5349240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E3AFA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13232" y="3566160"/>
            <a:ext cx="164592" cy="164592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18" name="Text 16"/>
          <p:cNvSpPr/>
          <p:nvPr/>
        </p:nvSpPr>
        <p:spPr>
          <a:xfrm>
            <a:off x="1005840" y="3319272"/>
            <a:ext cx="47091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Continúa pese a consecuencias negativas importantes</a:t>
            </a:r>
            <a:endParaRPr lang="en-US" sz="1450" dirty="0"/>
          </a:p>
        </p:txBody>
      </p:sp>
      <p:sp>
        <p:nvSpPr>
          <p:cNvPr id="19" name="Shape 17"/>
          <p:cNvSpPr/>
          <p:nvPr/>
        </p:nvSpPr>
        <p:spPr>
          <a:xfrm>
            <a:off x="6263640" y="3319272"/>
            <a:ext cx="5349240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E3AFAF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428232" y="3566160"/>
            <a:ext cx="164592" cy="164592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21" name="Text 19"/>
          <p:cNvSpPr/>
          <p:nvPr/>
        </p:nvSpPr>
        <p:spPr>
          <a:xfrm>
            <a:off x="6720840" y="3319272"/>
            <a:ext cx="47091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Malestar significativo por pérdida de control</a:t>
            </a:r>
            <a:endParaRPr lang="en-US" sz="1450" dirty="0"/>
          </a:p>
        </p:txBody>
      </p:sp>
      <p:sp>
        <p:nvSpPr>
          <p:cNvPr id="22" name="Shape 20"/>
          <p:cNvSpPr/>
          <p:nvPr/>
        </p:nvSpPr>
        <p:spPr>
          <a:xfrm>
            <a:off x="548640" y="4178808"/>
            <a:ext cx="5349240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E3AFAF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13232" y="4425696"/>
            <a:ext cx="164592" cy="164592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24" name="Text 22"/>
          <p:cNvSpPr/>
          <p:nvPr/>
        </p:nvSpPr>
        <p:spPr>
          <a:xfrm>
            <a:off x="1005840" y="4178808"/>
            <a:ext cx="47091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acompaña de uso problemático de pornografía</a:t>
            </a:r>
            <a:endParaRPr lang="en-US" sz="1450" dirty="0"/>
          </a:p>
        </p:txBody>
      </p:sp>
      <p:sp>
        <p:nvSpPr>
          <p:cNvPr id="25" name="Shape 23"/>
          <p:cNvSpPr/>
          <p:nvPr/>
        </p:nvSpPr>
        <p:spPr>
          <a:xfrm>
            <a:off x="6263640" y="4178808"/>
            <a:ext cx="5349240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E3AFAF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428232" y="4425696"/>
            <a:ext cx="164592" cy="164592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27" name="Text 25"/>
          <p:cNvSpPr/>
          <p:nvPr/>
        </p:nvSpPr>
        <p:spPr>
          <a:xfrm>
            <a:off x="6720840" y="4178808"/>
            <a:ext cx="47091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Hay lesiones o irritación física por práctica intensa</a:t>
            </a:r>
            <a:endParaRPr lang="en-US" sz="1450" dirty="0"/>
          </a:p>
        </p:txBody>
      </p:sp>
      <p:sp>
        <p:nvSpPr>
          <p:cNvPr id="28" name="Text 26"/>
          <p:cNvSpPr/>
          <p:nvPr/>
        </p:nvSpPr>
        <p:spPr>
          <a:xfrm>
            <a:off x="548640" y="5989320"/>
            <a:ext cx="11064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i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las señales son persistentes o graves, la aplicación debería recomendar ayuda profesional.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M-Control · Investigación y documentación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Sistema de colores: verde, amarillo, rojo</a:t>
            </a:r>
            <a:endParaRPr lang="en-US" sz="31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i="1" dirty="0">
                <a:solidFill>
                  <a:srgbClr val="5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semáforo de bienestar personalizado, no una sentencia moral</a:t>
            </a:r>
            <a:endParaRPr lang="en-US" sz="155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3611880" cy="4480560"/>
          </a:xfrm>
          <a:prstGeom prst="roundRect">
            <a:avLst>
              <a:gd name="adj" fmla="val 3038"/>
            </a:avLst>
          </a:prstGeom>
          <a:solidFill>
            <a:srgbClr val="F7FAF9"/>
          </a:solidFill>
          <a:ln w="19050">
            <a:solidFill>
              <a:srgbClr val="3FA34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943100" y="1874520"/>
            <a:ext cx="822960" cy="822960"/>
          </a:xfrm>
          <a:prstGeom prst="ellipse">
            <a:avLst/>
          </a:prstGeom>
          <a:solidFill>
            <a:srgbClr val="3FA34D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2834640"/>
            <a:ext cx="3611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Verde</a:t>
            </a:r>
            <a:endParaRPr lang="en-US" sz="2300" dirty="0"/>
          </a:p>
        </p:txBody>
      </p:sp>
      <p:sp>
        <p:nvSpPr>
          <p:cNvPr id="7" name="Text 5"/>
          <p:cNvSpPr/>
          <p:nvPr/>
        </p:nvSpPr>
        <p:spPr>
          <a:xfrm>
            <a:off x="822960" y="3291840"/>
            <a:ext cx="3063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Patrón compatible con el objetivo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822960" y="3977640"/>
            <a:ext cx="30632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Ejemplo: </a:t>
            </a:r>
            <a:pPr algn="l"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Intervalo adecuado, sin interferencia, sin molestias físicas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822960" y="5029200"/>
            <a:ext cx="306324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Acción: </a:t>
            </a:r>
            <a:pPr algn="l"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Muestra: “Día compatible con tu patrón actual”.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4297680" y="1600200"/>
            <a:ext cx="3611880" cy="4480560"/>
          </a:xfrm>
          <a:prstGeom prst="roundRect">
            <a:avLst>
              <a:gd name="adj" fmla="val 3038"/>
            </a:avLst>
          </a:prstGeom>
          <a:solidFill>
            <a:srgbClr val="F7FAF9"/>
          </a:solidFill>
          <a:ln w="19050">
            <a:solidFill>
              <a:srgbClr val="E0A80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692140" y="1874520"/>
            <a:ext cx="822960" cy="822960"/>
          </a:xfrm>
          <a:prstGeom prst="ellipse">
            <a:avLst/>
          </a:prstGeom>
          <a:solidFill>
            <a:srgbClr val="E0A800"/>
          </a:solidFill>
          <a:ln/>
        </p:spPr>
      </p:sp>
      <p:sp>
        <p:nvSpPr>
          <p:cNvPr id="12" name="Text 10"/>
          <p:cNvSpPr/>
          <p:nvPr/>
        </p:nvSpPr>
        <p:spPr>
          <a:xfrm>
            <a:off x="4297680" y="2834640"/>
            <a:ext cx="3611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Amarillo</a:t>
            </a:r>
            <a:endParaRPr lang="en-US" sz="2300" dirty="0"/>
          </a:p>
        </p:txBody>
      </p:sp>
      <p:sp>
        <p:nvSpPr>
          <p:cNvPr id="13" name="Text 11"/>
          <p:cNvSpPr/>
          <p:nvPr/>
        </p:nvSpPr>
        <p:spPr>
          <a:xfrm>
            <a:off x="4572000" y="3291840"/>
            <a:ext cx="3063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Conviene observar el patrón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4572000" y="3977640"/>
            <a:ext cx="30632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Ejemplo: </a:t>
            </a:r>
            <a:pPr algn="l"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Intervalo más corto de lo habitual o estrés elevado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4572000" y="5029200"/>
            <a:ext cx="306324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Acción: </a:t>
            </a:r>
            <a:pPr algn="l"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Advertencia suave y recomendación de revisar contexto.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8046720" y="1600200"/>
            <a:ext cx="3611880" cy="4480560"/>
          </a:xfrm>
          <a:prstGeom prst="roundRect">
            <a:avLst>
              <a:gd name="adj" fmla="val 3038"/>
            </a:avLst>
          </a:prstGeom>
          <a:solidFill>
            <a:srgbClr val="F7FAF9"/>
          </a:solidFill>
          <a:ln w="19050">
            <a:solidFill>
              <a:srgbClr val="C0392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9441180" y="1874520"/>
            <a:ext cx="822960" cy="822960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18" name="Text 16"/>
          <p:cNvSpPr/>
          <p:nvPr/>
        </p:nvSpPr>
        <p:spPr>
          <a:xfrm>
            <a:off x="8046720" y="2834640"/>
            <a:ext cx="3611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Rojo</a:t>
            </a:r>
            <a:endParaRPr lang="en-US" sz="2300" dirty="0"/>
          </a:p>
        </p:txBody>
      </p:sp>
      <p:sp>
        <p:nvSpPr>
          <p:cNvPr id="19" name="Text 17"/>
          <p:cNvSpPr/>
          <p:nvPr/>
        </p:nvSpPr>
        <p:spPr>
          <a:xfrm>
            <a:off x="8321040" y="3291840"/>
            <a:ext cx="3063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Requiere atención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8321040" y="3977640"/>
            <a:ext cx="30632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Ejemplo: </a:t>
            </a:r>
            <a:pPr algn="l"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Dolor, repetición compulsiva o pérdida de control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8321040" y="5029200"/>
            <a:ext cx="306324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Acción: </a:t>
            </a:r>
            <a:pPr algn="l"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Recomienda pausa, autocuidado y ayuda profesional si persiste.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M-Control · Investigación y documentación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A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Variables clave del algoritmo</a:t>
            </a:r>
            <a:endParaRPr lang="en-US" sz="31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i="1" dirty="0">
                <a:solidFill>
                  <a:srgbClr val="5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 de puntuación de bienestar (0–100), no un diagnóstico</a:t>
            </a:r>
            <a:endParaRPr lang="en-US" sz="155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5577840" cy="457200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8FE3C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691640"/>
            <a:ext cx="5120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spc="1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FACTORES CON MAYOR PESO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822960" y="210312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Interferencia funcional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4800600" y="2157984"/>
            <a:ext cx="1143000" cy="329184"/>
          </a:xfrm>
          <a:prstGeom prst="roundRect">
            <a:avLst>
              <a:gd name="adj" fmla="val 50000"/>
            </a:avLst>
          </a:prstGeom>
          <a:solidFill>
            <a:srgbClr val="C0392B"/>
          </a:solidFill>
          <a:ln/>
        </p:spPr>
      </p:sp>
      <p:sp>
        <p:nvSpPr>
          <p:cNvPr id="8" name="Text 6"/>
          <p:cNvSpPr/>
          <p:nvPr/>
        </p:nvSpPr>
        <p:spPr>
          <a:xfrm>
            <a:off x="4709160" y="2130552"/>
            <a:ext cx="1234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Muy alto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822960" y="2633472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Pérdida de control</a:t>
            </a:r>
            <a:endParaRPr lang="en-US" sz="1450" dirty="0"/>
          </a:p>
        </p:txBody>
      </p:sp>
      <p:sp>
        <p:nvSpPr>
          <p:cNvPr id="10" name="Shape 8"/>
          <p:cNvSpPr/>
          <p:nvPr/>
        </p:nvSpPr>
        <p:spPr>
          <a:xfrm>
            <a:off x="4800600" y="2688336"/>
            <a:ext cx="1143000" cy="329184"/>
          </a:xfrm>
          <a:prstGeom prst="roundRect">
            <a:avLst>
              <a:gd name="adj" fmla="val 50000"/>
            </a:avLst>
          </a:prstGeom>
          <a:solidFill>
            <a:srgbClr val="C0392B"/>
          </a:solidFill>
          <a:ln/>
        </p:spPr>
      </p:sp>
      <p:sp>
        <p:nvSpPr>
          <p:cNvPr id="11" name="Text 9"/>
          <p:cNvSpPr/>
          <p:nvPr/>
        </p:nvSpPr>
        <p:spPr>
          <a:xfrm>
            <a:off x="4709160" y="2660904"/>
            <a:ext cx="1234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Muy alto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822960" y="3163824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Síntomas físicos</a:t>
            </a:r>
            <a:endParaRPr lang="en-US" sz="1450" dirty="0"/>
          </a:p>
        </p:txBody>
      </p:sp>
      <p:sp>
        <p:nvSpPr>
          <p:cNvPr id="13" name="Shape 11"/>
          <p:cNvSpPr/>
          <p:nvPr/>
        </p:nvSpPr>
        <p:spPr>
          <a:xfrm>
            <a:off x="4800600" y="3218688"/>
            <a:ext cx="1143000" cy="329184"/>
          </a:xfrm>
          <a:prstGeom prst="roundRect">
            <a:avLst>
              <a:gd name="adj" fmla="val 50000"/>
            </a:avLst>
          </a:prstGeom>
          <a:solidFill>
            <a:srgbClr val="E0A800"/>
          </a:solidFill>
          <a:ln/>
        </p:spPr>
      </p:sp>
      <p:sp>
        <p:nvSpPr>
          <p:cNvPr id="14" name="Text 12"/>
          <p:cNvSpPr/>
          <p:nvPr/>
        </p:nvSpPr>
        <p:spPr>
          <a:xfrm>
            <a:off x="4709160" y="3191256"/>
            <a:ext cx="1234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Alto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822960" y="3694176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Tendencia de frecuencia</a:t>
            </a:r>
            <a:endParaRPr lang="en-US" sz="1450" dirty="0"/>
          </a:p>
        </p:txBody>
      </p:sp>
      <p:sp>
        <p:nvSpPr>
          <p:cNvPr id="16" name="Shape 14"/>
          <p:cNvSpPr/>
          <p:nvPr/>
        </p:nvSpPr>
        <p:spPr>
          <a:xfrm>
            <a:off x="4800600" y="3749040"/>
            <a:ext cx="1143000" cy="329184"/>
          </a:xfrm>
          <a:prstGeom prst="roundRect">
            <a:avLst>
              <a:gd name="adj" fmla="val 50000"/>
            </a:avLst>
          </a:prstGeom>
          <a:solidFill>
            <a:srgbClr val="028090"/>
          </a:solidFill>
          <a:ln/>
        </p:spPr>
      </p:sp>
      <p:sp>
        <p:nvSpPr>
          <p:cNvPr id="17" name="Text 15"/>
          <p:cNvSpPr/>
          <p:nvPr/>
        </p:nvSpPr>
        <p:spPr>
          <a:xfrm>
            <a:off x="4709160" y="3721608"/>
            <a:ext cx="1234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Medio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822960" y="4224528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Estrés / estado emocional</a:t>
            </a:r>
            <a:endParaRPr lang="en-US" sz="1450" dirty="0"/>
          </a:p>
        </p:txBody>
      </p:sp>
      <p:sp>
        <p:nvSpPr>
          <p:cNvPr id="19" name="Shape 17"/>
          <p:cNvSpPr/>
          <p:nvPr/>
        </p:nvSpPr>
        <p:spPr>
          <a:xfrm>
            <a:off x="4800600" y="4279392"/>
            <a:ext cx="1143000" cy="329184"/>
          </a:xfrm>
          <a:prstGeom prst="roundRect">
            <a:avLst>
              <a:gd name="adj" fmla="val 50000"/>
            </a:avLst>
          </a:prstGeom>
          <a:solidFill>
            <a:srgbClr val="028090"/>
          </a:solidFill>
          <a:ln/>
        </p:spPr>
      </p:sp>
      <p:sp>
        <p:nvSpPr>
          <p:cNvPr id="20" name="Text 18"/>
          <p:cNvSpPr/>
          <p:nvPr/>
        </p:nvSpPr>
        <p:spPr>
          <a:xfrm>
            <a:off x="4709160" y="4251960"/>
            <a:ext cx="1234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Medio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822960" y="475488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Intervalo histórico personal</a:t>
            </a:r>
            <a:endParaRPr lang="en-US" sz="1450" dirty="0"/>
          </a:p>
        </p:txBody>
      </p:sp>
      <p:sp>
        <p:nvSpPr>
          <p:cNvPr id="22" name="Shape 20"/>
          <p:cNvSpPr/>
          <p:nvPr/>
        </p:nvSpPr>
        <p:spPr>
          <a:xfrm>
            <a:off x="4800600" y="4809744"/>
            <a:ext cx="1143000" cy="329184"/>
          </a:xfrm>
          <a:prstGeom prst="roundRect">
            <a:avLst>
              <a:gd name="adj" fmla="val 50000"/>
            </a:avLst>
          </a:prstGeom>
          <a:solidFill>
            <a:srgbClr val="028090"/>
          </a:solidFill>
          <a:ln/>
        </p:spPr>
      </p:sp>
      <p:sp>
        <p:nvSpPr>
          <p:cNvPr id="23" name="Text 21"/>
          <p:cNvSpPr/>
          <p:nvPr/>
        </p:nvSpPr>
        <p:spPr>
          <a:xfrm>
            <a:off x="4709160" y="4782312"/>
            <a:ext cx="1234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Medio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822960" y="5285232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Objetivo personal</a:t>
            </a:r>
            <a:endParaRPr lang="en-US" sz="1450" dirty="0"/>
          </a:p>
        </p:txBody>
      </p:sp>
      <p:sp>
        <p:nvSpPr>
          <p:cNvPr id="25" name="Shape 23"/>
          <p:cNvSpPr/>
          <p:nvPr/>
        </p:nvSpPr>
        <p:spPr>
          <a:xfrm>
            <a:off x="4800600" y="5340096"/>
            <a:ext cx="1143000" cy="329184"/>
          </a:xfrm>
          <a:prstGeom prst="roundRect">
            <a:avLst>
              <a:gd name="adj" fmla="val 50000"/>
            </a:avLst>
          </a:prstGeom>
          <a:solidFill>
            <a:srgbClr val="028090"/>
          </a:solidFill>
          <a:ln/>
        </p:spPr>
      </p:sp>
      <p:sp>
        <p:nvSpPr>
          <p:cNvPr id="26" name="Text 24"/>
          <p:cNvSpPr/>
          <p:nvPr/>
        </p:nvSpPr>
        <p:spPr>
          <a:xfrm>
            <a:off x="4709160" y="5312664"/>
            <a:ext cx="1234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Medio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6355080" y="1554480"/>
            <a:ext cx="5257800" cy="4572000"/>
          </a:xfrm>
          <a:prstGeom prst="roundRect">
            <a:avLst>
              <a:gd name="adj" fmla="val 2000"/>
            </a:avLst>
          </a:prstGeom>
          <a:solidFill>
            <a:srgbClr val="0B2545"/>
          </a:solidFill>
          <a:ln/>
        </p:spPr>
      </p:sp>
      <p:sp>
        <p:nvSpPr>
          <p:cNvPr id="28" name="Text 26"/>
          <p:cNvSpPr/>
          <p:nvPr/>
        </p:nvSpPr>
        <p:spPr>
          <a:xfrm>
            <a:off x="6629400" y="1691640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spc="100" kern="0" dirty="0">
                <a:solidFill>
                  <a:srgbClr val="8FE3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QUÉ REGISTRA M-CONTROL</a:t>
            </a:r>
            <a:endParaRPr lang="en-US" sz="1350" dirty="0"/>
          </a:p>
        </p:txBody>
      </p:sp>
      <p:sp>
        <p:nvSpPr>
          <p:cNvPr id="29" name="Shape 27"/>
          <p:cNvSpPr/>
          <p:nvPr/>
        </p:nvSpPr>
        <p:spPr>
          <a:xfrm>
            <a:off x="6629400" y="2231136"/>
            <a:ext cx="109728" cy="109728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30" name="Text 28"/>
          <p:cNvSpPr/>
          <p:nvPr/>
        </p:nvSpPr>
        <p:spPr>
          <a:xfrm>
            <a:off x="6858000" y="2121408"/>
            <a:ext cx="4617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Fecha, hora e intervalo entre eventos</a:t>
            </a:r>
            <a:endParaRPr lang="en-US" sz="1400" dirty="0"/>
          </a:p>
        </p:txBody>
      </p:sp>
      <p:sp>
        <p:nvSpPr>
          <p:cNvPr id="31" name="Shape 29"/>
          <p:cNvSpPr/>
          <p:nvPr/>
        </p:nvSpPr>
        <p:spPr>
          <a:xfrm>
            <a:off x="6629400" y="2734056"/>
            <a:ext cx="109728" cy="109728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32" name="Text 30"/>
          <p:cNvSpPr/>
          <p:nvPr/>
        </p:nvSpPr>
        <p:spPr>
          <a:xfrm>
            <a:off x="6858000" y="2624328"/>
            <a:ext cx="4617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Frecuencia en 7 / 14 / 30 / 90 días</a:t>
            </a:r>
            <a:endParaRPr lang="en-US" sz="1400" dirty="0"/>
          </a:p>
        </p:txBody>
      </p:sp>
      <p:sp>
        <p:nvSpPr>
          <p:cNvPr id="33" name="Shape 31"/>
          <p:cNvSpPr/>
          <p:nvPr/>
        </p:nvSpPr>
        <p:spPr>
          <a:xfrm>
            <a:off x="6629400" y="3236976"/>
            <a:ext cx="109728" cy="109728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34" name="Text 32"/>
          <p:cNvSpPr/>
          <p:nvPr/>
        </p:nvSpPr>
        <p:spPr>
          <a:xfrm>
            <a:off x="6858000" y="3127248"/>
            <a:ext cx="4617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Interferencia con sueño, trabajo y relaciones</a:t>
            </a:r>
            <a:endParaRPr lang="en-US" sz="1400" dirty="0"/>
          </a:p>
        </p:txBody>
      </p:sp>
      <p:sp>
        <p:nvSpPr>
          <p:cNvPr id="35" name="Shape 33"/>
          <p:cNvSpPr/>
          <p:nvPr/>
        </p:nvSpPr>
        <p:spPr>
          <a:xfrm>
            <a:off x="6629400" y="3739896"/>
            <a:ext cx="109728" cy="109728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36" name="Text 34"/>
          <p:cNvSpPr/>
          <p:nvPr/>
        </p:nvSpPr>
        <p:spPr>
          <a:xfrm>
            <a:off x="6858000" y="3630168"/>
            <a:ext cx="4617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Nivel subjetivo de control antes y después</a:t>
            </a:r>
            <a:endParaRPr lang="en-US" sz="1400" dirty="0"/>
          </a:p>
        </p:txBody>
      </p:sp>
      <p:sp>
        <p:nvSpPr>
          <p:cNvPr id="37" name="Shape 35"/>
          <p:cNvSpPr/>
          <p:nvPr/>
        </p:nvSpPr>
        <p:spPr>
          <a:xfrm>
            <a:off x="6629400" y="4242816"/>
            <a:ext cx="109728" cy="109728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38" name="Text 36"/>
          <p:cNvSpPr/>
          <p:nvPr/>
        </p:nvSpPr>
        <p:spPr>
          <a:xfrm>
            <a:off x="6858000" y="4133088"/>
            <a:ext cx="4617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Dolor, irritación o sensibilidad reducida</a:t>
            </a:r>
            <a:endParaRPr lang="en-US" sz="1400" dirty="0"/>
          </a:p>
        </p:txBody>
      </p:sp>
      <p:sp>
        <p:nvSpPr>
          <p:cNvPr id="39" name="Shape 37"/>
          <p:cNvSpPr/>
          <p:nvPr/>
        </p:nvSpPr>
        <p:spPr>
          <a:xfrm>
            <a:off x="6629400" y="4745736"/>
            <a:ext cx="109728" cy="109728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40" name="Text 38"/>
          <p:cNvSpPr/>
          <p:nvPr/>
        </p:nvSpPr>
        <p:spPr>
          <a:xfrm>
            <a:off x="6858000" y="4636008"/>
            <a:ext cx="4617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Uso de pornografía (opcional)</a:t>
            </a:r>
            <a:endParaRPr lang="en-US" sz="1400" dirty="0"/>
          </a:p>
        </p:txBody>
      </p:sp>
      <p:sp>
        <p:nvSpPr>
          <p:cNvPr id="41" name="Shape 39"/>
          <p:cNvSpPr/>
          <p:nvPr/>
        </p:nvSpPr>
        <p:spPr>
          <a:xfrm>
            <a:off x="6629400" y="5248656"/>
            <a:ext cx="109728" cy="109728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42" name="Text 40"/>
          <p:cNvSpPr/>
          <p:nvPr/>
        </p:nvSpPr>
        <p:spPr>
          <a:xfrm>
            <a:off x="6858000" y="5138928"/>
            <a:ext cx="4617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Nivel de estrés, ansiedad o ánimo</a:t>
            </a:r>
            <a:endParaRPr lang="en-US" sz="1400" dirty="0"/>
          </a:p>
        </p:txBody>
      </p:sp>
      <p:sp>
        <p:nvSpPr>
          <p:cNvPr id="43" name="Shape 41"/>
          <p:cNvSpPr/>
          <p:nvPr/>
        </p:nvSpPr>
        <p:spPr>
          <a:xfrm>
            <a:off x="6629400" y="5751576"/>
            <a:ext cx="109728" cy="109728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44" name="Text 42"/>
          <p:cNvSpPr/>
          <p:nvPr/>
        </p:nvSpPr>
        <p:spPr>
          <a:xfrm>
            <a:off x="6858000" y="5641848"/>
            <a:ext cx="4617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Consecuencias negativas percibidas</a:t>
            </a:r>
            <a:endParaRPr lang="en-US" sz="1400" dirty="0"/>
          </a:p>
        </p:txBody>
      </p:sp>
      <p:sp>
        <p:nvSpPr>
          <p:cNvPr id="45" name="Text 43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M-Control · Investigación y documentación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25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0" y="4572000"/>
            <a:ext cx="3657600" cy="3657600"/>
          </a:xfrm>
          <a:prstGeom prst="ellipse">
            <a:avLst/>
          </a:prstGeom>
          <a:solidFill>
            <a:srgbClr val="028090">
              <a:alpha val="25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0292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Privacidad y seguridad de datos</a:t>
            </a:r>
            <a:endParaRPr lang="en-US" sz="3300" dirty="0"/>
          </a:p>
        </p:txBody>
      </p:sp>
      <p:sp>
        <p:nvSpPr>
          <p:cNvPr id="4" name="Text 2"/>
          <p:cNvSpPr/>
          <p:nvPr/>
        </p:nvSpPr>
        <p:spPr>
          <a:xfrm>
            <a:off x="548640" y="109728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i="1" dirty="0">
                <a:solidFill>
                  <a:srgbClr val="8FE3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M-Control maneja información extremadamente sensible: la privacidad es un requisito central desde el diseño</a:t>
            </a:r>
            <a:endParaRPr lang="en-US" sz="1550" dirty="0"/>
          </a:p>
        </p:txBody>
      </p:sp>
      <p:sp>
        <p:nvSpPr>
          <p:cNvPr id="5" name="Shape 3"/>
          <p:cNvSpPr/>
          <p:nvPr/>
        </p:nvSpPr>
        <p:spPr>
          <a:xfrm>
            <a:off x="548640" y="1920240"/>
            <a:ext cx="5349240" cy="777240"/>
          </a:xfrm>
          <a:prstGeom prst="roundRect">
            <a:avLst>
              <a:gd name="adj" fmla="val 11765"/>
            </a:avLst>
          </a:prstGeom>
          <a:solidFill>
            <a:srgbClr val="0F3355"/>
          </a:solidFill>
          <a:ln w="9525">
            <a:solidFill>
              <a:srgbClr val="02809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49808" y="2217420"/>
            <a:ext cx="182880" cy="18288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7" name="Text 5"/>
          <p:cNvSpPr/>
          <p:nvPr/>
        </p:nvSpPr>
        <p:spPr>
          <a:xfrm>
            <a:off x="1051560" y="1920240"/>
            <a:ext cx="46177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F7F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Minimización de datos: solo lo necesario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6263640" y="1920240"/>
            <a:ext cx="5349240" cy="777240"/>
          </a:xfrm>
          <a:prstGeom prst="roundRect">
            <a:avLst>
              <a:gd name="adj" fmla="val 11765"/>
            </a:avLst>
          </a:prstGeom>
          <a:solidFill>
            <a:srgbClr val="0F3355"/>
          </a:solidFill>
          <a:ln w="9525">
            <a:solidFill>
              <a:srgbClr val="02809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464808" y="2217420"/>
            <a:ext cx="182880" cy="18288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0" name="Text 8"/>
          <p:cNvSpPr/>
          <p:nvPr/>
        </p:nvSpPr>
        <p:spPr>
          <a:xfrm>
            <a:off x="6766560" y="1920240"/>
            <a:ext cx="46177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F7F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Cifrado en reposo y en transmisión</a:t>
            </a:r>
            <a:endParaRPr lang="en-US" sz="1450" dirty="0"/>
          </a:p>
        </p:txBody>
      </p:sp>
      <p:sp>
        <p:nvSpPr>
          <p:cNvPr id="11" name="Shape 9"/>
          <p:cNvSpPr/>
          <p:nvPr/>
        </p:nvSpPr>
        <p:spPr>
          <a:xfrm>
            <a:off x="548640" y="2953512"/>
            <a:ext cx="5349240" cy="777240"/>
          </a:xfrm>
          <a:prstGeom prst="roundRect">
            <a:avLst>
              <a:gd name="adj" fmla="val 11765"/>
            </a:avLst>
          </a:prstGeom>
          <a:solidFill>
            <a:srgbClr val="0F3355"/>
          </a:solidFill>
          <a:ln w="9525">
            <a:solidFill>
              <a:srgbClr val="02809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49808" y="3250692"/>
            <a:ext cx="182880" cy="18288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3" name="Text 11"/>
          <p:cNvSpPr/>
          <p:nvPr/>
        </p:nvSpPr>
        <p:spPr>
          <a:xfrm>
            <a:off x="1051560" y="2953512"/>
            <a:ext cx="46177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F7F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Bloqueo con PIN o biometría</a:t>
            </a:r>
            <a:endParaRPr lang="en-US" sz="1450" dirty="0"/>
          </a:p>
        </p:txBody>
      </p:sp>
      <p:sp>
        <p:nvSpPr>
          <p:cNvPr id="14" name="Shape 12"/>
          <p:cNvSpPr/>
          <p:nvPr/>
        </p:nvSpPr>
        <p:spPr>
          <a:xfrm>
            <a:off x="6263640" y="2953512"/>
            <a:ext cx="5349240" cy="777240"/>
          </a:xfrm>
          <a:prstGeom prst="roundRect">
            <a:avLst>
              <a:gd name="adj" fmla="val 11765"/>
            </a:avLst>
          </a:prstGeom>
          <a:solidFill>
            <a:srgbClr val="0F3355"/>
          </a:solidFill>
          <a:ln w="9525">
            <a:solidFill>
              <a:srgbClr val="02809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464808" y="3250692"/>
            <a:ext cx="182880" cy="18288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6" name="Text 14"/>
          <p:cNvSpPr/>
          <p:nvPr/>
        </p:nvSpPr>
        <p:spPr>
          <a:xfrm>
            <a:off x="6766560" y="2953512"/>
            <a:ext cx="46177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F7F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Uso sin nombre real (modo anónimo)</a:t>
            </a:r>
            <a:endParaRPr lang="en-US" sz="1450" dirty="0"/>
          </a:p>
        </p:txBody>
      </p:sp>
      <p:sp>
        <p:nvSpPr>
          <p:cNvPr id="17" name="Shape 15"/>
          <p:cNvSpPr/>
          <p:nvPr/>
        </p:nvSpPr>
        <p:spPr>
          <a:xfrm>
            <a:off x="548640" y="3986784"/>
            <a:ext cx="5349240" cy="777240"/>
          </a:xfrm>
          <a:prstGeom prst="roundRect">
            <a:avLst>
              <a:gd name="adj" fmla="val 11765"/>
            </a:avLst>
          </a:prstGeom>
          <a:solidFill>
            <a:srgbClr val="0F3355"/>
          </a:solidFill>
          <a:ln w="9525">
            <a:solidFill>
              <a:srgbClr val="02809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49808" y="4283964"/>
            <a:ext cx="182880" cy="18288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9" name="Text 17"/>
          <p:cNvSpPr/>
          <p:nvPr/>
        </p:nvSpPr>
        <p:spPr>
          <a:xfrm>
            <a:off x="1051560" y="3986784"/>
            <a:ext cx="46177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F7F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Exportación y eliminación de datos</a:t>
            </a:r>
            <a:endParaRPr lang="en-US" sz="1450" dirty="0"/>
          </a:p>
        </p:txBody>
      </p:sp>
      <p:sp>
        <p:nvSpPr>
          <p:cNvPr id="20" name="Shape 18"/>
          <p:cNvSpPr/>
          <p:nvPr/>
        </p:nvSpPr>
        <p:spPr>
          <a:xfrm>
            <a:off x="6263640" y="3986784"/>
            <a:ext cx="5349240" cy="777240"/>
          </a:xfrm>
          <a:prstGeom prst="roundRect">
            <a:avLst>
              <a:gd name="adj" fmla="val 11765"/>
            </a:avLst>
          </a:prstGeom>
          <a:solidFill>
            <a:srgbClr val="0F3355"/>
          </a:solidFill>
          <a:ln w="9525">
            <a:solidFill>
              <a:srgbClr val="02809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464808" y="4283964"/>
            <a:ext cx="182880" cy="18288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22" name="Text 20"/>
          <p:cNvSpPr/>
          <p:nvPr/>
        </p:nvSpPr>
        <p:spPr>
          <a:xfrm>
            <a:off x="6766560" y="3986784"/>
            <a:ext cx="46177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F7F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vender datos íntimos ni usarlos en publicidad</a:t>
            </a:r>
            <a:endParaRPr lang="en-US" sz="1450" dirty="0"/>
          </a:p>
        </p:txBody>
      </p:sp>
      <p:sp>
        <p:nvSpPr>
          <p:cNvPr id="23" name="Shape 21"/>
          <p:cNvSpPr/>
          <p:nvPr/>
        </p:nvSpPr>
        <p:spPr>
          <a:xfrm>
            <a:off x="548640" y="5020056"/>
            <a:ext cx="5349240" cy="777240"/>
          </a:xfrm>
          <a:prstGeom prst="roundRect">
            <a:avLst>
              <a:gd name="adj" fmla="val 11765"/>
            </a:avLst>
          </a:prstGeom>
          <a:solidFill>
            <a:srgbClr val="0F3355"/>
          </a:solidFill>
          <a:ln w="9525">
            <a:solidFill>
              <a:srgbClr val="02809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49808" y="5317236"/>
            <a:ext cx="182880" cy="18288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25" name="Text 23"/>
          <p:cNvSpPr/>
          <p:nvPr/>
        </p:nvSpPr>
        <p:spPr>
          <a:xfrm>
            <a:off x="1051560" y="5020056"/>
            <a:ext cx="46177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F7F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Procesamiento local siempre que sea viable</a:t>
            </a:r>
            <a:endParaRPr lang="en-US" sz="1450" dirty="0"/>
          </a:p>
        </p:txBody>
      </p:sp>
      <p:sp>
        <p:nvSpPr>
          <p:cNvPr id="26" name="Shape 24"/>
          <p:cNvSpPr/>
          <p:nvPr/>
        </p:nvSpPr>
        <p:spPr>
          <a:xfrm>
            <a:off x="6263640" y="5020056"/>
            <a:ext cx="5349240" cy="777240"/>
          </a:xfrm>
          <a:prstGeom prst="roundRect">
            <a:avLst>
              <a:gd name="adj" fmla="val 11765"/>
            </a:avLst>
          </a:prstGeom>
          <a:solidFill>
            <a:srgbClr val="0F3355"/>
          </a:solidFill>
          <a:ln w="9525">
            <a:solidFill>
              <a:srgbClr val="02809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464808" y="5317236"/>
            <a:ext cx="182880" cy="18288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28" name="Text 26"/>
          <p:cNvSpPr/>
          <p:nvPr/>
        </p:nvSpPr>
        <p:spPr>
          <a:xfrm>
            <a:off x="6766560" y="5020056"/>
            <a:ext cx="46177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F7F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Separación de identidad y datos de comportamiento</a:t>
            </a:r>
            <a:endParaRPr lang="en-US" sz="1450" dirty="0"/>
          </a:p>
        </p:txBody>
      </p:sp>
      <p:sp>
        <p:nvSpPr>
          <p:cNvPr id="29" name="Text 27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FE3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M-Control · Investigación y documentación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FE3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A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¿Qué hace diferente a M-Control?</a:t>
            </a:r>
            <a:endParaRPr lang="en-US" sz="31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mercado se enfoca en abstinencia y rachas; M-Control apuesta por autorregulación y evidencia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5120640" cy="457200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8FE3C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69164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spc="100" kern="0" dirty="0">
                <a:solidFill>
                  <a:srgbClr val="5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APLICACIONES SIMILARES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822960" y="2148840"/>
            <a:ext cx="4572000" cy="475488"/>
          </a:xfrm>
          <a:prstGeom prst="roundRect">
            <a:avLst>
              <a:gd name="adj" fmla="val 11538"/>
            </a:avLst>
          </a:prstGeom>
          <a:solidFill>
            <a:srgbClr val="F7FAF9"/>
          </a:solidFill>
          <a:ln w="9525">
            <a:solidFill>
              <a:srgbClr val="D8D8D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05840" y="2148840"/>
            <a:ext cx="42062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Raze – Quit Masturbation Tracker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822960" y="2770632"/>
            <a:ext cx="4572000" cy="475488"/>
          </a:xfrm>
          <a:prstGeom prst="roundRect">
            <a:avLst>
              <a:gd name="adj" fmla="val 11538"/>
            </a:avLst>
          </a:prstGeom>
          <a:solidFill>
            <a:srgbClr val="F7FAF9"/>
          </a:solidFill>
          <a:ln w="9525">
            <a:solidFill>
              <a:srgbClr val="D8D8D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05840" y="2770632"/>
            <a:ext cx="42062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StopFap Tracker Pro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822960" y="3392424"/>
            <a:ext cx="4572000" cy="475488"/>
          </a:xfrm>
          <a:prstGeom prst="roundRect">
            <a:avLst>
              <a:gd name="adj" fmla="val 11538"/>
            </a:avLst>
          </a:prstGeom>
          <a:solidFill>
            <a:srgbClr val="F7FAF9"/>
          </a:solidFill>
          <a:ln w="9525">
            <a:solidFill>
              <a:srgbClr val="D8D8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05840" y="3392424"/>
            <a:ext cx="42062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Wood Log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822960" y="4014216"/>
            <a:ext cx="4572000" cy="475488"/>
          </a:xfrm>
          <a:prstGeom prst="roundRect">
            <a:avLst>
              <a:gd name="adj" fmla="val 11538"/>
            </a:avLst>
          </a:prstGeom>
          <a:solidFill>
            <a:srgbClr val="F7FAF9"/>
          </a:solidFill>
          <a:ln w="9525">
            <a:solidFill>
              <a:srgbClr val="D8D8D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05840" y="4014216"/>
            <a:ext cx="42062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Addiction Tracker: Habit Log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822960" y="4636008"/>
            <a:ext cx="4572000" cy="475488"/>
          </a:xfrm>
          <a:prstGeom prst="roundRect">
            <a:avLst>
              <a:gd name="adj" fmla="val 11538"/>
            </a:avLst>
          </a:prstGeom>
          <a:solidFill>
            <a:srgbClr val="F7FAF9"/>
          </a:solidFill>
          <a:ln w="9525">
            <a:solidFill>
              <a:srgbClr val="D8D8D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05840" y="4636008"/>
            <a:ext cx="42062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Brainbuddy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822960" y="5257800"/>
            <a:ext cx="4572000" cy="475488"/>
          </a:xfrm>
          <a:prstGeom prst="roundRect">
            <a:avLst>
              <a:gd name="adj" fmla="val 11538"/>
            </a:avLst>
          </a:prstGeom>
          <a:solidFill>
            <a:srgbClr val="F7FAF9"/>
          </a:solidFill>
          <a:ln w="9525">
            <a:solidFill>
              <a:srgbClr val="D8D8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005840" y="5257800"/>
            <a:ext cx="42062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Pure: NoFap Habit Tracker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822960" y="580644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Enfoque predominante: abstinencia, rachas y comunidad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943600" y="1554480"/>
            <a:ext cx="5669280" cy="4572000"/>
          </a:xfrm>
          <a:prstGeom prst="roundRect">
            <a:avLst>
              <a:gd name="adj" fmla="val 2000"/>
            </a:avLst>
          </a:prstGeom>
          <a:solidFill>
            <a:srgbClr val="028090"/>
          </a:solidFill>
          <a:ln/>
        </p:spPr>
      </p:sp>
      <p:sp>
        <p:nvSpPr>
          <p:cNvPr id="20" name="Text 18"/>
          <p:cNvSpPr/>
          <p:nvPr/>
        </p:nvSpPr>
        <p:spPr>
          <a:xfrm>
            <a:off x="6217920" y="1691640"/>
            <a:ext cx="5120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ENFOQUE DE M-CONTROL</a:t>
            </a:r>
            <a:endParaRPr lang="en-US" sz="1350" dirty="0"/>
          </a:p>
        </p:txBody>
      </p:sp>
      <p:sp>
        <p:nvSpPr>
          <p:cNvPr id="21" name="Shape 19"/>
          <p:cNvSpPr/>
          <p:nvPr/>
        </p:nvSpPr>
        <p:spPr>
          <a:xfrm>
            <a:off x="6263640" y="2295144"/>
            <a:ext cx="146304" cy="146304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22" name="Text 20"/>
          <p:cNvSpPr/>
          <p:nvPr/>
        </p:nvSpPr>
        <p:spPr>
          <a:xfrm>
            <a:off x="6537960" y="2148840"/>
            <a:ext cx="4937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plantea la abstinencia como único objetivo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6263640" y="2916936"/>
            <a:ext cx="146304" cy="146304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24" name="Text 22"/>
          <p:cNvSpPr/>
          <p:nvPr/>
        </p:nvSpPr>
        <p:spPr>
          <a:xfrm>
            <a:off x="6537960" y="2770632"/>
            <a:ext cx="4937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asume automáticamente que hay adicción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6263640" y="3538728"/>
            <a:ext cx="146304" cy="146304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26" name="Text 24"/>
          <p:cNvSpPr/>
          <p:nvPr/>
        </p:nvSpPr>
        <p:spPr>
          <a:xfrm>
            <a:off x="6537960" y="3392424"/>
            <a:ext cx="4937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Calendario predictivo, no solo conteo de rachas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6263640" y="4160520"/>
            <a:ext cx="146304" cy="146304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28" name="Text 26"/>
          <p:cNvSpPr/>
          <p:nvPr/>
        </p:nvSpPr>
        <p:spPr>
          <a:xfrm>
            <a:off x="6537960" y="4014216"/>
            <a:ext cx="4937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Personaliza el análisis según el historial propio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6263640" y="4782312"/>
            <a:ext cx="146304" cy="146304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30" name="Text 28"/>
          <p:cNvSpPr/>
          <p:nvPr/>
        </p:nvSpPr>
        <p:spPr>
          <a:xfrm>
            <a:off x="6537960" y="4636008"/>
            <a:ext cx="4937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Explica por qué se generó cada recomendación</a:t>
            </a:r>
            <a:endParaRPr lang="en-US" sz="1400" dirty="0"/>
          </a:p>
        </p:txBody>
      </p:sp>
      <p:sp>
        <p:nvSpPr>
          <p:cNvPr id="31" name="Shape 29"/>
          <p:cNvSpPr/>
          <p:nvPr/>
        </p:nvSpPr>
        <p:spPr>
          <a:xfrm>
            <a:off x="6263640" y="5404104"/>
            <a:ext cx="146304" cy="146304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32" name="Text 30"/>
          <p:cNvSpPr/>
          <p:nvPr/>
        </p:nvSpPr>
        <p:spPr>
          <a:xfrm>
            <a:off x="6537960" y="5257800"/>
            <a:ext cx="4937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Puede detectar señales y derivar a ayuda profesional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M-Control · Investigación y documentación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A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Próxima fase recomendada del proyecto</a:t>
            </a:r>
            <a:endParaRPr lang="en-US" sz="3100" dirty="0"/>
          </a:p>
        </p:txBody>
      </p:sp>
      <p:sp>
        <p:nvSpPr>
          <p:cNvPr id="3" name="Shape 1"/>
          <p:cNvSpPr/>
          <p:nvPr/>
        </p:nvSpPr>
        <p:spPr>
          <a:xfrm>
            <a:off x="548640" y="1280160"/>
            <a:ext cx="5349240" cy="932688"/>
          </a:xfrm>
          <a:prstGeom prst="roundRect">
            <a:avLst>
              <a:gd name="adj" fmla="val 9804"/>
            </a:avLst>
          </a:prstGeom>
          <a:solidFill>
            <a:srgbClr val="FFFFFF"/>
          </a:solidFill>
          <a:ln w="12700">
            <a:solidFill>
              <a:srgbClr val="8FE3CF"/>
            </a:solidFill>
            <a:prstDash val="solid"/>
          </a:ln>
          <a:effectLst>
            <a:outerShdw sx="100000" sy="100000" kx="0" ky="0" algn="bl" rotWithShape="0" blurRad="50800" dist="25400" dir="5400000">
              <a:srgbClr val="1B1B1B">
                <a:alpha val="8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749808" y="1527048"/>
            <a:ext cx="438912" cy="438912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5" name="Text 3"/>
          <p:cNvSpPr/>
          <p:nvPr/>
        </p:nvSpPr>
        <p:spPr>
          <a:xfrm>
            <a:off x="749808" y="1527048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325880" y="1280160"/>
            <a:ext cx="4389120" cy="9326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5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Convertir la investigación en requisitos funcionales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6263640" y="1280160"/>
            <a:ext cx="5349240" cy="932688"/>
          </a:xfrm>
          <a:prstGeom prst="roundRect">
            <a:avLst>
              <a:gd name="adj" fmla="val 9804"/>
            </a:avLst>
          </a:prstGeom>
          <a:solidFill>
            <a:srgbClr val="FFFFFF"/>
          </a:solidFill>
          <a:ln w="12700">
            <a:solidFill>
              <a:srgbClr val="8FE3CF"/>
            </a:solidFill>
            <a:prstDash val="solid"/>
          </a:ln>
          <a:effectLst>
            <a:outerShdw sx="100000" sy="100000" kx="0" ky="0" algn="bl" rotWithShape="0" blurRad="50800" dist="25400" dir="5400000">
              <a:srgbClr val="1B1B1B">
                <a:alpha val="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6464808" y="1527048"/>
            <a:ext cx="438912" cy="438912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9" name="Text 7"/>
          <p:cNvSpPr/>
          <p:nvPr/>
        </p:nvSpPr>
        <p:spPr>
          <a:xfrm>
            <a:off x="6464808" y="1527048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7040880" y="1280160"/>
            <a:ext cx="4389120" cy="9326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5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Definir verde/amarillo/rojo con reglas revisadas por profesionales</a:t>
            </a:r>
            <a:endParaRPr lang="en-US" sz="1450" dirty="0"/>
          </a:p>
        </p:txBody>
      </p:sp>
      <p:sp>
        <p:nvSpPr>
          <p:cNvPr id="11" name="Shape 9"/>
          <p:cNvSpPr/>
          <p:nvPr/>
        </p:nvSpPr>
        <p:spPr>
          <a:xfrm>
            <a:off x="548640" y="2487168"/>
            <a:ext cx="5349240" cy="932688"/>
          </a:xfrm>
          <a:prstGeom prst="roundRect">
            <a:avLst>
              <a:gd name="adj" fmla="val 9804"/>
            </a:avLst>
          </a:prstGeom>
          <a:solidFill>
            <a:srgbClr val="FFFFFF"/>
          </a:solidFill>
          <a:ln w="12700">
            <a:solidFill>
              <a:srgbClr val="8FE3CF"/>
            </a:solidFill>
            <a:prstDash val="solid"/>
          </a:ln>
          <a:effectLst>
            <a:outerShdw sx="100000" sy="100000" kx="0" ky="0" algn="bl" rotWithShape="0" blurRad="50800" dist="25400" dir="5400000">
              <a:srgbClr val="1B1B1B">
                <a:alpha val="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749808" y="2734056"/>
            <a:ext cx="438912" cy="438912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3" name="Text 11"/>
          <p:cNvSpPr/>
          <p:nvPr/>
        </p:nvSpPr>
        <p:spPr>
          <a:xfrm>
            <a:off x="749808" y="2734056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325880" y="2487168"/>
            <a:ext cx="4389120" cy="9326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5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Diseñar el modelo de datos</a:t>
            </a:r>
            <a:endParaRPr lang="en-US" sz="1450" dirty="0"/>
          </a:p>
        </p:txBody>
      </p:sp>
      <p:sp>
        <p:nvSpPr>
          <p:cNvPr id="15" name="Shape 13"/>
          <p:cNvSpPr/>
          <p:nvPr/>
        </p:nvSpPr>
        <p:spPr>
          <a:xfrm>
            <a:off x="6263640" y="2487168"/>
            <a:ext cx="5349240" cy="932688"/>
          </a:xfrm>
          <a:prstGeom prst="roundRect">
            <a:avLst>
              <a:gd name="adj" fmla="val 9804"/>
            </a:avLst>
          </a:prstGeom>
          <a:solidFill>
            <a:srgbClr val="FFFFFF"/>
          </a:solidFill>
          <a:ln w="12700">
            <a:solidFill>
              <a:srgbClr val="8FE3CF"/>
            </a:solidFill>
            <a:prstDash val="solid"/>
          </a:ln>
          <a:effectLst>
            <a:outerShdw sx="100000" sy="100000" kx="0" ky="0" algn="bl" rotWithShape="0" blurRad="50800" dist="25400" dir="5400000">
              <a:srgbClr val="1B1B1B">
                <a:alpha val="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464808" y="2734056"/>
            <a:ext cx="438912" cy="438912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7" name="Text 15"/>
          <p:cNvSpPr/>
          <p:nvPr/>
        </p:nvSpPr>
        <p:spPr>
          <a:xfrm>
            <a:off x="6464808" y="2734056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7040880" y="2487168"/>
            <a:ext cx="4389120" cy="9326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5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Diseñar calendario y pantallas</a:t>
            </a:r>
            <a:endParaRPr lang="en-US" sz="1450" dirty="0"/>
          </a:p>
        </p:txBody>
      </p:sp>
      <p:sp>
        <p:nvSpPr>
          <p:cNvPr id="19" name="Shape 17"/>
          <p:cNvSpPr/>
          <p:nvPr/>
        </p:nvSpPr>
        <p:spPr>
          <a:xfrm>
            <a:off x="548640" y="3694176"/>
            <a:ext cx="5349240" cy="932688"/>
          </a:xfrm>
          <a:prstGeom prst="roundRect">
            <a:avLst>
              <a:gd name="adj" fmla="val 9804"/>
            </a:avLst>
          </a:prstGeom>
          <a:solidFill>
            <a:srgbClr val="FFFFFF"/>
          </a:solidFill>
          <a:ln w="12700">
            <a:solidFill>
              <a:srgbClr val="8FE3CF"/>
            </a:solidFill>
            <a:prstDash val="solid"/>
          </a:ln>
          <a:effectLst>
            <a:outerShdw sx="100000" sy="100000" kx="0" ky="0" algn="bl" rotWithShape="0" blurRad="50800" dist="25400" dir="5400000">
              <a:srgbClr val="1B1B1B">
                <a:alpha val="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749808" y="3941064"/>
            <a:ext cx="438912" cy="438912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21" name="Text 19"/>
          <p:cNvSpPr/>
          <p:nvPr/>
        </p:nvSpPr>
        <p:spPr>
          <a:xfrm>
            <a:off x="749808" y="3941064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325880" y="3694176"/>
            <a:ext cx="4389120" cy="9326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5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Diseñar el modelo de puntuación antes de integrar IA</a:t>
            </a:r>
            <a:endParaRPr lang="en-US" sz="1450" dirty="0"/>
          </a:p>
        </p:txBody>
      </p:sp>
      <p:sp>
        <p:nvSpPr>
          <p:cNvPr id="23" name="Shape 21"/>
          <p:cNvSpPr/>
          <p:nvPr/>
        </p:nvSpPr>
        <p:spPr>
          <a:xfrm>
            <a:off x="6263640" y="3694176"/>
            <a:ext cx="5349240" cy="932688"/>
          </a:xfrm>
          <a:prstGeom prst="roundRect">
            <a:avLst>
              <a:gd name="adj" fmla="val 9804"/>
            </a:avLst>
          </a:prstGeom>
          <a:solidFill>
            <a:srgbClr val="FFFFFF"/>
          </a:solidFill>
          <a:ln w="12700">
            <a:solidFill>
              <a:srgbClr val="8FE3CF"/>
            </a:solidFill>
            <a:prstDash val="solid"/>
          </a:ln>
          <a:effectLst>
            <a:outerShdw sx="100000" sy="100000" kx="0" ky="0" algn="bl" rotWithShape="0" blurRad="50800" dist="25400" dir="5400000">
              <a:srgbClr val="1B1B1B">
                <a:alpha val="8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6464808" y="3941064"/>
            <a:ext cx="438912" cy="438912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25" name="Text 23"/>
          <p:cNvSpPr/>
          <p:nvPr/>
        </p:nvSpPr>
        <p:spPr>
          <a:xfrm>
            <a:off x="6464808" y="3941064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7040880" y="3694176"/>
            <a:ext cx="4389120" cy="9326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5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Definir arquitectura de privacidad y seguridad</a:t>
            </a:r>
            <a:endParaRPr lang="en-US" sz="1450" dirty="0"/>
          </a:p>
        </p:txBody>
      </p:sp>
      <p:sp>
        <p:nvSpPr>
          <p:cNvPr id="27" name="Shape 25"/>
          <p:cNvSpPr/>
          <p:nvPr/>
        </p:nvSpPr>
        <p:spPr>
          <a:xfrm>
            <a:off x="548640" y="4901184"/>
            <a:ext cx="5349240" cy="932688"/>
          </a:xfrm>
          <a:prstGeom prst="roundRect">
            <a:avLst>
              <a:gd name="adj" fmla="val 9804"/>
            </a:avLst>
          </a:prstGeom>
          <a:solidFill>
            <a:srgbClr val="FFFFFF"/>
          </a:solidFill>
          <a:ln w="12700">
            <a:solidFill>
              <a:srgbClr val="8FE3CF"/>
            </a:solidFill>
            <a:prstDash val="solid"/>
          </a:ln>
          <a:effectLst>
            <a:outerShdw sx="100000" sy="100000" kx="0" ky="0" algn="bl" rotWithShape="0" blurRad="50800" dist="25400" dir="5400000">
              <a:srgbClr val="1B1B1B">
                <a:alpha val="8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749808" y="5148072"/>
            <a:ext cx="438912" cy="438912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29" name="Text 27"/>
          <p:cNvSpPr/>
          <p:nvPr/>
        </p:nvSpPr>
        <p:spPr>
          <a:xfrm>
            <a:off x="749808" y="5148072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1325880" y="4901184"/>
            <a:ext cx="4389120" cy="9326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5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Construir un prototipo sin IA para validar la experiencia</a:t>
            </a:r>
            <a:endParaRPr lang="en-US" sz="1450" dirty="0"/>
          </a:p>
        </p:txBody>
      </p:sp>
      <p:sp>
        <p:nvSpPr>
          <p:cNvPr id="31" name="Shape 29"/>
          <p:cNvSpPr/>
          <p:nvPr/>
        </p:nvSpPr>
        <p:spPr>
          <a:xfrm>
            <a:off x="6263640" y="4901184"/>
            <a:ext cx="5349240" cy="932688"/>
          </a:xfrm>
          <a:prstGeom prst="roundRect">
            <a:avLst>
              <a:gd name="adj" fmla="val 9804"/>
            </a:avLst>
          </a:prstGeom>
          <a:solidFill>
            <a:srgbClr val="FFFFFF"/>
          </a:solidFill>
          <a:ln w="12700">
            <a:solidFill>
              <a:srgbClr val="8FE3CF"/>
            </a:solidFill>
            <a:prstDash val="solid"/>
          </a:ln>
          <a:effectLst>
            <a:outerShdw sx="100000" sy="100000" kx="0" ky="0" algn="bl" rotWithShape="0" blurRad="50800" dist="25400" dir="5400000">
              <a:srgbClr val="1B1B1B">
                <a:alpha val="8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6464808" y="5148072"/>
            <a:ext cx="438912" cy="438912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33" name="Text 31"/>
          <p:cNvSpPr/>
          <p:nvPr/>
        </p:nvSpPr>
        <p:spPr>
          <a:xfrm>
            <a:off x="6464808" y="5148072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7040880" y="4901184"/>
            <a:ext cx="4389120" cy="9326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5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Validar reglas y mensajes con profesionales de salud</a:t>
            </a:r>
            <a:endParaRPr lang="en-US" sz="1450" dirty="0"/>
          </a:p>
        </p:txBody>
      </p:sp>
      <p:sp>
        <p:nvSpPr>
          <p:cNvPr id="35" name="Text 33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M-Control · Investigación y documentación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B25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-1371600"/>
            <a:ext cx="4572000" cy="4572000"/>
          </a:xfrm>
          <a:prstGeom prst="ellipse">
            <a:avLst/>
          </a:prstGeom>
          <a:solidFill>
            <a:srgbClr val="028090">
              <a:alpha val="2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9601200" y="4114800"/>
            <a:ext cx="4114800" cy="4114800"/>
          </a:xfrm>
          <a:prstGeom prst="ellipse">
            <a:avLst/>
          </a:prstGeom>
          <a:solidFill>
            <a:srgbClr val="02C39A">
              <a:alpha val="2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91440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Conclusión general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640080" y="1828800"/>
            <a:ext cx="868680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2000" b="1" dirty="0">
                <a:solidFill>
                  <a:srgbClr val="8FE3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M-Control se diferencia del mercado al no partir de la abstinencia como meta. </a:t>
            </a:r>
            <a:pPr indent="0" marL="0">
              <a:lnSpc>
                <a:spcPct val="130000"/>
              </a:lnSpc>
              <a:buNone/>
            </a:pPr>
            <a:r>
              <a:rPr lang="en-US" sz="2000" dirty="0">
                <a:solidFill>
                  <a:srgbClr val="F7F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 mayor valor está en reconocer la individualidad: observar el historial, detectar cambios y entregar recomendaciones explicables sobre bienestar y funcionamiento.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640080" y="3657600"/>
            <a:ext cx="86868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8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Verde, amarillo y rojo </a:t>
            </a:r>
            <a:pPr indent="0" marL="0">
              <a:lnSpc>
                <a:spcPct val="125000"/>
              </a:lnSpc>
              <a:buNone/>
            </a:pPr>
            <a:r>
              <a:rPr lang="en-US" sz="1800" dirty="0">
                <a:solidFill>
                  <a:srgbClr val="F7F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son una sentencia moral: representan el estado del patrón del usuario, con límites claros y derivación a profesionales cuando la situación lo requiera.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40080" y="603504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spc="200" kern="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M-CONTROL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FE3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2026-09-07T19:17:27Z</dcterms:created>
  <dcterms:modified xsi:type="dcterms:W3CDTF">2026-09-07T19:17:27Z</dcterms:modified>
</cp:coreProperties>
</file>